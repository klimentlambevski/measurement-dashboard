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2" r:id="rId17"/>
    <p:sldId id="273" r:id="rId18"/>
    <p:sldId id="274" r:id="rId19"/>
    <p:sldId id="275" r:id="rId20"/>
    <p:sldId id="270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0087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framing: the students are building sensors and calibration. The web platform should reduce friction and provide a clear path from measured data to a central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uploaded project brief. Use this slide to connect every technical choice to the assignment: one-minute values, online display, daily/weekly/monthly graphs, central platform, and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Supabase Edge Functions can serve public HTTP endpoints for server-side logic. Supabase auto-generates a Data API from tables, views, and functions. Main teaching point: devices do not need database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students still learn the end-to-end chain, but their main implementation work remains embedded/sensor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Supabase sources: Tables and Data docs; Data REST API docs. The platform can automatically expose tables and views through a RESTful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replaces deep calibration flow with a schema-level representation only. It keeps calibration visible without making it a separate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classroom setup: keep token handling simple. If teaching production security, change token to token_hash and verify with pgcrypto or an RPC.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why storing both device_time and received_at matters. A station may lose network connection, then send delayed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Supabase auto-generates API endpoints from database tables, views, and functions. Use this slide to show why views are useful for non-web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Supabase docs recommend enabling Row Level Security on tables in exposed schemas. A publishable key is safe only when RLS policies restrict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Supabase Function Configuration docs show verify_jwt can be set per function. Supabase Edge Function auth docs explain that JWT checks can reject requests before code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intentionally pseudocode. For the actual demo, prepare a working TypeScript function with the same sequence: method check, token check, range validation, insert,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a handout. It is the only thing students really need for the web side: endpoint, header, and JSON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Vercel Git docs describe preview deployments from pull requests and production deployments from the production branch. Environment variable docs cover project settings and framework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live demo: send a sample payload, verify DB row, show latest_measurements, then refresh the Vercel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futuristic_tech_illustration_infographic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30352"/>
            <a:ext cx="2651760" cy="310896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 LECTURE / DATA PLATFORM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94360" y="1051560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Sensor Measurements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Web Dashboard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40080" y="2761488"/>
            <a:ext cx="63093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low-friction Supabase + Vercel architecture for collecting, storing, and visualizing student IoT station data.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35204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D1F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station  -&gt;  Edge Function  -&gt;  Postgres  -&gt;  Vercel dashboard</a:t>
            </a:r>
            <a:endParaRPr lang="en-US" sz="135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304CD7D-0AC5-BF6D-04EE-595BCFD9EEDE}"/>
              </a:ext>
            </a:extLst>
          </p:cNvPr>
          <p:cNvSpPr/>
          <p:nvPr/>
        </p:nvSpPr>
        <p:spPr>
          <a:xfrm>
            <a:off x="594360" y="6172200"/>
            <a:ext cx="5615521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Aptos" pitchFamily="34" charset="0"/>
              </a:rPr>
              <a:t>By Kliment Lambevski, CEO and Co-Founder at VITECH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ANCHOR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Translate the assignment into platform features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Vercel IoT data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project brief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533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asks for an integrated online system, not isolated demos.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1938528"/>
            <a:ext cx="48920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requirement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group builds one sensor station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dBA, PM10, PM2.5, temperature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Timestamped measurements every 1 minute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data through Wi-Fi or LoRaWAN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Online/realtime interface with graphs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Daily, weekly, and monthly views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central system across all stations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readings between locations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05272" y="32461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=&gt;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629400" y="1938528"/>
            <a:ext cx="4892040" cy="416052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feature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JSON contract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ingestion endpoint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Postgres database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before inserting rows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for latest and aggregate data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Vercel-hosted dashboard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 comparison charts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web-development burden on students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STACK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architecture: one central system for all stations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Vercel IoT data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Supabase Functions + Data API docs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send one JSON payload. The platform handles validation, storage, and visualization.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1874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station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 / Wi-Fi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LoRaWAN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24912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03320" y="2148840"/>
            <a:ext cx="2011680" cy="914400"/>
          </a:xfrm>
          <a:prstGeom prst="roundRect">
            <a:avLst/>
          </a:prstGeom>
          <a:solidFill>
            <a:srgbClr val="ECFDF5"/>
          </a:solidFill>
          <a:ln>
            <a:solidFill>
              <a:srgbClr val="10B981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Function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/ingest-measurement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+ insert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97880" y="2331720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858000" y="214884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Postgres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098280" y="2331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12680" y="2148840"/>
            <a:ext cx="182880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Vercel dashboard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UI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charts + maps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" y="391363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let devices insert directly into the database?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13232" y="4370832"/>
            <a:ext cx="49377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the ingestion endpoint can reject bad payloads, hide service-role credentials, centralize token checks, and keep the database write policy closed to the public.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9136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idea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343400"/>
            <a:ext cx="47548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endpoint for every student group. One station_id identifies the source. One database schema supports current values, time-series charts, and location comparisons.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DIVISION OF RESPONSIBILITIES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Separate sensor work from web-platform work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Vercel IoT data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project brief + platform design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should make the students successful without asking them to become full-stack developers.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184708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group owns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438912" cy="38404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44168" y="241401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44168" y="2734056"/>
            <a:ext cx="400507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sensors once per minute: dBA, PM10, PM2.5, temperature, battery.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777240" y="3502152"/>
            <a:ext cx="438912" cy="38404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44168" y="349300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payload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44168" y="3813048"/>
            <a:ext cx="400507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common JSON contract and include station_id plus timestamp.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777240" y="4581144"/>
            <a:ext cx="438912" cy="38404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44168" y="457200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344168" y="4892040"/>
            <a:ext cx="400507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the payload to the shared endpoint with the station token.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537960" y="184708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platform owns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537960" y="2423160"/>
            <a:ext cx="438912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04888" y="241401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safely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104888" y="2734056"/>
            <a:ext cx="400507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ranges, reject malformed rows, and insert into Postgres.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6537960" y="3502152"/>
            <a:ext cx="438912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04888" y="349300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data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104888" y="3813048"/>
            <a:ext cx="400507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controlled read views for latest values and history.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6537960" y="4581144"/>
            <a:ext cx="438912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04888" y="457200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104888" y="4892040"/>
            <a:ext cx="400507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one dashboard for all stations and comparison charts.</a:t>
            </a:r>
            <a:endParaRPr lang="en-US" sz="12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  <a:latin typeface="Aptos"/>
              </a:rPr>
              <a:t>WHAT IS SUPABASE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The backend platform behind the class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43584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334155"/>
                </a:solidFill>
                <a:latin typeface="Aptos"/>
              </a:rPr>
              <a:t>Supabase gives us a hosted Postgres database plus ready-made backend services. Instead of building servers, we configure tables, permissions, and one ingestion endpoint.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2080260" y="2331720"/>
            <a:ext cx="4005071" cy="557783"/>
          </a:xfrm>
          <a:prstGeom prst="line">
            <a:avLst/>
          </a:prstGeom>
          <a:ln w="1524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85331" y="2331720"/>
            <a:ext cx="3995928" cy="557783"/>
          </a:xfrm>
          <a:prstGeom prst="line">
            <a:avLst/>
          </a:prstGeom>
          <a:ln w="1524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080260" y="2889503"/>
            <a:ext cx="4005071" cy="1481328"/>
          </a:xfrm>
          <a:prstGeom prst="line">
            <a:avLst/>
          </a:prstGeom>
          <a:ln w="1524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5331" y="2889503"/>
            <a:ext cx="3995928" cy="1481328"/>
          </a:xfrm>
          <a:prstGeom prst="line">
            <a:avLst/>
          </a:prstGeom>
          <a:ln w="1524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5331" y="2889503"/>
            <a:ext cx="0" cy="2258569"/>
          </a:xfrm>
          <a:prstGeom prst="line">
            <a:avLst/>
          </a:prstGeom>
          <a:ln w="1524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33672" y="2331720"/>
            <a:ext cx="3703320" cy="111556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46304" bIns="9144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ptos Display"/>
              </a:rPr>
              <a:t>Supabase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D1FAE5"/>
                </a:solidFill>
                <a:latin typeface="Aptos"/>
              </a:rPr>
              <a:t>managed backend around Postgres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938528"/>
            <a:ext cx="2514600" cy="786384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73152" rtlCol="0" anchor="ctr"/>
          <a:lstStyle/>
          <a:p>
            <a:pPr algn="ctr"/>
            <a:r>
              <a:rPr sz="1450" b="1">
                <a:solidFill>
                  <a:srgbClr val="0F172A"/>
                </a:solidFill>
                <a:latin typeface="Aptos"/>
              </a:rPr>
              <a:t>Postgres database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Aptos"/>
              </a:rPr>
              <a:t>central storage for station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938528"/>
            <a:ext cx="2423160" cy="7863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73152" rtlCol="0" anchor="ctr"/>
          <a:lstStyle/>
          <a:p>
            <a:pPr algn="ctr"/>
            <a:r>
              <a:rPr sz="1450" b="1">
                <a:solidFill>
                  <a:srgbClr val="0F172A"/>
                </a:solidFill>
                <a:latin typeface="Aptos"/>
              </a:rPr>
              <a:t>Instant APIs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Aptos"/>
              </a:rPr>
              <a:t>REST reads for dashboard 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2514600" cy="786384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73152" rtlCol="0" anchor="ctr"/>
          <a:lstStyle/>
          <a:p>
            <a:pPr algn="ctr"/>
            <a:r>
              <a:rPr sz="1450" b="1">
                <a:solidFill>
                  <a:srgbClr val="0F172A"/>
                </a:solidFill>
                <a:latin typeface="Aptos"/>
              </a:rPr>
              <a:t>Edge Functions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Aptos"/>
              </a:rPr>
              <a:t>custom server logic for ingest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3977639"/>
            <a:ext cx="2423160" cy="7863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73152" rtlCol="0" anchor="ctr"/>
          <a:lstStyle/>
          <a:p>
            <a:pPr algn="ctr"/>
            <a:r>
              <a:rPr sz="1450" b="1">
                <a:solidFill>
                  <a:srgbClr val="0F172A"/>
                </a:solidFill>
                <a:latin typeface="Aptos"/>
              </a:rPr>
              <a:t>Realtime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Aptos"/>
              </a:rPr>
              <a:t>live updates when values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3672" y="4800600"/>
            <a:ext cx="3703320" cy="69494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73152" rtlCol="0" anchor="ctr"/>
          <a:lstStyle/>
          <a:p>
            <a:pPr algn="ctr"/>
            <a:r>
              <a:rPr sz="1450" b="1">
                <a:solidFill>
                  <a:srgbClr val="0F172A"/>
                </a:solidFill>
                <a:latin typeface="Aptos"/>
              </a:rPr>
              <a:t>Auth + RLS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Aptos"/>
              </a:rPr>
              <a:t>permissions that protect writes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687568"/>
            <a:ext cx="107899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0584" rIns="182880" bIns="54864" rtlCol="0" anchor="ctr"/>
          <a:lstStyle/>
          <a:p>
            <a:pPr algn="ctr"/>
            <a:r>
              <a:rPr sz="1450" b="1">
                <a:solidFill>
                  <a:srgbClr val="0F172A"/>
                </a:solidFill>
                <a:latin typeface="Aptos"/>
              </a:rPr>
              <a:t>Teaching idea: students focus on sensors and calibration; Supabase handles the managed backend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Supabase + Vercel IoT data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Sources: Supabase overview + 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PROJECT CONFIGURATION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Supabase setup: what to create first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Vercel IoT data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Supabase Tables + API docs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gives the class a hosted Postgres database, SQL editor, auto-generated Data API, Edge Functions, and project secrets in one place.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384048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9842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project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429000" y="198424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organization, project name, region close to students, and database password.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777240" y="2715768"/>
            <a:ext cx="384048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7340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SQL Editor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429000" y="273405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setup script for tables, indexes, views, and RLS policies.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777240" y="3465576"/>
            <a:ext cx="384048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4838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station rows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429000" y="348386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every group a station_id and generated station token.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777240" y="4215384"/>
            <a:ext cx="384048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233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Edge Function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429000" y="423367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one public function named ingest-measurement.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777240" y="4965192"/>
            <a:ext cx="384048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9834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secrets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429000" y="498348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 uses service-role key; browser uses only anon/public key.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777240" y="55778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this mental 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63240" y="5550408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creates the structure. Edge Function controls writes. Vercel reads safe views and renders charts.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 STRUCTURE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model: small schema, clear purpose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Vercel IoT data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Supabase Tables docs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objects are enough for the class project. Do not start with a large IoT platform schema.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0B981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group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 + status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54680" y="2240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1 -&gt; many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26280" y="205740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minute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+ calibrated values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50608" y="22402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001000" y="2057400"/>
            <a:ext cx="246888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views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latest, daily, monthly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API-friendly queries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3977640"/>
            <a:ext cx="2651760" cy="960120"/>
          </a:xfrm>
          <a:prstGeom prst="roundRect">
            <a:avLst/>
          </a:prstGeom>
          <a:solidFill>
            <a:srgbClr val="FFFBEB"/>
          </a:solidFill>
          <a:ln>
            <a:solidFill>
              <a:srgbClr val="F59E0B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calibration_profiles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coefficients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correction metadata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03320" y="41605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00600" y="3977640"/>
            <a:ext cx="2788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measurements.calibration_version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 with every row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history explainable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0" y="3977640"/>
            <a:ext cx="2240280" cy="960120"/>
          </a:xfrm>
          <a:prstGeom prst="roundRect">
            <a:avLst/>
          </a:prstGeom>
          <a:solidFill>
            <a:srgbClr val="FEF2F2"/>
          </a:solidFill>
          <a:ln>
            <a:solidFill>
              <a:srgbClr val="EF4444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station_tokens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access per station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RLS locked down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5650992"/>
            <a:ext cx="98755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store every measurement as an immutable time-series row. Use views to make frontend queries simple.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 PART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setup: stations and station tokens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Vercel IoT data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Supabase SQL Editor + RLS docs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the station registry first. Every group receives one station_id and one token.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6446520" cy="443484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create table public.stations (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station_id text primary key,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group_name text not null,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location_name text,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latitude double precision,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longitude double precision,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active boolean not null default true,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created_at timestamptz not null default now()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);</a:t>
            </a:r>
            <a:endParaRPr lang="en-US" sz="1060" dirty="0"/>
          </a:p>
          <a:p>
            <a:pPr marL="0" indent="0">
              <a:buNone/>
            </a:pP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create table public.station_tokens (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station_id text primary key references public.stations(station_id),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token text not null,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active boolean not null default true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);</a:t>
            </a:r>
            <a:endParaRPr lang="en-US" sz="1060" dirty="0"/>
          </a:p>
          <a:p>
            <a:pPr marL="0" indent="0">
              <a:buNone/>
            </a:pP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insert into public.stations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(station_id, group_name, location_name, latitude, longitude)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values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('G03', 'Group 03', 'Faculty courtyard', 42.004, 21.409);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7452360" y="1874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NOTES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452360" y="2148840"/>
            <a:ext cx="38862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778" tIns="1778" rIns="1778" bIns="177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station_id is the stable identifier in every payload.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 fields make maps and comparisons possible.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station_tokens is not displayed in the dashboard. It is used only by the ingestion endpoint.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production system, store token_hash instead of plain token.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452360" y="5349240"/>
            <a:ext cx="3886200" cy="45720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simplification: private token table + service role inside Edge Function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 PART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setup: measurements table and index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Vercel IoT data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Supabase Tables docs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measurement table is the core time-series store: one station, one timestamp, one row.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6446520" cy="452628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create table public.measurements (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id bigserial primary key,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station_id text not null references public.stations(station_id),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device_time timestamptz not null,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received_at timestamptz not null default now(),</a:t>
            </a:r>
            <a:endParaRPr lang="en-US" sz="970" dirty="0"/>
          </a:p>
          <a:p>
            <a:pPr marL="0" indent="0">
              <a:buNone/>
            </a:pP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noise_dba_raw numeric,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noise_dba numeric,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pm25_raw numeric,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pm25_ugm3 numeric,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pm10_raw numeric,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pm10_ugm3 numeric,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temperature_c numeric,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battery_v numeric,</a:t>
            </a:r>
            <a:endParaRPr lang="en-US" sz="970" dirty="0"/>
          </a:p>
          <a:p>
            <a:pPr marL="0" indent="0">
              <a:buNone/>
            </a:pP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calibration_version text,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quality_flag text not null default 'ok',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payload jsonb not null default '{}'::jsonb,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unique (station_id, device_time)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);</a:t>
            </a:r>
            <a:endParaRPr lang="en-US" sz="970" dirty="0"/>
          </a:p>
          <a:p>
            <a:pPr marL="0" indent="0">
              <a:buNone/>
            </a:pP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create index measurements_station_time_idx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on public.measurements (station_id, device_time desc);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7452360" y="18288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THESE COLUMNS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452360" y="2103120"/>
            <a:ext cx="38862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device_time: when the station measured it</a:t>
            </a:r>
            <a:endParaRPr lang="en-US" sz="1520" dirty="0"/>
          </a:p>
          <a:p>
            <a:pPr marL="0" indent="0" algn="l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received_at: when the platform got it</a:t>
            </a:r>
            <a:endParaRPr lang="en-US" sz="1520" dirty="0"/>
          </a:p>
          <a:p>
            <a:pPr marL="0" indent="0" algn="l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fields: useful for calibration audits</a:t>
            </a:r>
            <a:endParaRPr lang="en-US" sz="1520" dirty="0"/>
          </a:p>
          <a:p>
            <a:pPr marL="0" indent="0" algn="l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calibrated fields: used in dashboards</a:t>
            </a:r>
            <a:endParaRPr lang="en-US" sz="1520" dirty="0"/>
          </a:p>
          <a:p>
            <a:pPr marL="0" indent="0" algn="l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payload: preserves the original message</a:t>
            </a:r>
            <a:endParaRPr lang="en-US" sz="1520" dirty="0"/>
          </a:p>
          <a:p>
            <a:pPr marL="0" indent="0" algn="l">
              <a:buNone/>
            </a:pPr>
            <a:r>
              <a:rPr lang="en-US" sz="15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constraint: prevents duplicate minute rows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7452360" y="5349240"/>
            <a:ext cx="3886200" cy="53035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index makes the most common query fast: latest measurements for one station.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FOR FRONTEND QUERIES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setup: dashboard views for easy reads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Vercel IoT data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Supabase Data API + views guidance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keep the frontend simple: Vercel queries clean objects instead of repeating SQL logic in JavaScript.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85800" y="1847088"/>
            <a:ext cx="6675120" cy="448056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create view public.latest_measurements as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select distinct on (m.station_id)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m.station_id, s.group_name, s.location_name,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s.latitude, s.longitude,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m.device_time, m.received_at,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m.noise_dba, m.pm25_ugm3, m.pm10_ugm3,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m.temperature_c, m.battery_v, m.quality_flag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from public.measurements m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join public.stations s on s.station_id = m.station_id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where s.active = true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 by m.station_id, m.device_time desc;</a:t>
            </a:r>
            <a:endParaRPr lang="en-US" sz="970" dirty="0"/>
          </a:p>
          <a:p>
            <a:pPr marL="0" indent="0">
              <a:buNone/>
            </a:pP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create view public.daily_measurement_summary as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select station_id,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date_trunc('day', device_time) as day,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avg(noise_dba) as avg_noise_dba,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avg(pm25_ugm3) as avg_pm25_ugm3,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avg(pm10_ugm3) as avg_pm10_ugm3,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count(*) as sample_count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from public.measurements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group by station_id, date_trunc('day', device_time);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7726680" y="186537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ENDPOINTS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26680" y="2148840"/>
            <a:ext cx="3657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/rest/v1/latest_measurements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current station cards</a:t>
            </a:r>
            <a:endParaRPr lang="en-US" sz="1320" dirty="0"/>
          </a:p>
          <a:p>
            <a:pPr marL="0" indent="0" algn="l">
              <a:buNone/>
            </a:pP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/rest/v1/measurements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time-series charts</a:t>
            </a:r>
            <a:endParaRPr lang="en-US" sz="1320" dirty="0"/>
          </a:p>
          <a:p>
            <a:pPr marL="0" indent="0" algn="l">
              <a:buNone/>
            </a:pP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/rest/v1/daily_measurement_summary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daily and monthly summaries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726680" y="5257800"/>
            <a:ext cx="3657600" cy="68580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txBody>
          <a:bodyPr wrap="square" lIns="1270" tIns="1270" rIns="1270" bIns="127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Supabase creates API routes from tables and views, each view can become a clean dashboard data source.</a:t>
            </a:r>
            <a:endParaRPr lang="en-US" sz="14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RLS AND KEYS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model: open reads, controlled writes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Vercel IoT data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Supabase RLS + secure data docs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browser may read public dashboard data. Only the Edge Function may write measurements.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571500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alter table public.stations enable row level security;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alter table public.measurements enable row level security;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alter table public.station_tokens enable row level security;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create policy "public read stations"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 public.stations for select using (true);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create policy "public read measurements"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 public.measurements for select using (true);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-- No public policy for station_tokens.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-- No public INSERT policy for measurements.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812280" y="18288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KEYS AND PERMISSIONS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12280" y="2148840"/>
            <a:ext cx="425196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Anon/public key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in Vercel browser code. Can read only what RLS allows.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Service-role key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only inside the Edge Function. Never place it in frontend code.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 token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by each sensor station. Sent as X-Station-Token.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12280" y="5440680"/>
            <a:ext cx="4251960" cy="438912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Rule: public dashboard reads are allowed; public inserts are not.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0A676"/>
                </a:solidFill>
                <a:latin typeface="Aptos Display"/>
              </a:rPr>
              <a:t>SUPABASE EDGE FUNCTION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F172A"/>
                </a:solidFill>
                <a:latin typeface="Aptos Display"/>
              </a:rPr>
              <a:t>Endpoint setup: create a JavaScript ingestion function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Vercel IoT data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4748B"/>
                </a:solidFill>
                <a:latin typeface="Aptos"/>
              </a:rPr>
              <a:t>Sources: Supabase Function configuration + deployment docs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334155"/>
                </a:solidFill>
                <a:latin typeface="Aptos"/>
              </a:rPr>
              <a:t>For sensors, use a public HTTP endpoint protected by your own station-token check. The implementation file is plain JavaScript: index.js.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5806440" cy="416052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txBody>
          <a:bodyPr wrap="none" lIns="127000" tIns="76200" rIns="76200" bIns="76200" rtlCol="0" anchor="t"/>
          <a:lstStyle/>
          <a:p>
            <a:pPr marL="0" indent="0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0" dirty="0" err="1">
                <a:solidFill>
                  <a:srgbClr val="E6EFF7"/>
                </a:solidFill>
                <a:latin typeface="Consolas"/>
              </a:rPr>
              <a:t>supabase</a:t>
            </a:r>
            <a:r>
              <a:rPr sz="910" b="0" dirty="0">
                <a:solidFill>
                  <a:srgbClr val="E6EFF7"/>
                </a:solidFill>
                <a:latin typeface="Consolas"/>
              </a:rPr>
              <a:t> login</a:t>
            </a:r>
            <a:endParaRPr lang="en-US" sz="1140" dirty="0"/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dirty="0" err="1">
                <a:solidFill>
                  <a:srgbClr val="E6EFF7"/>
                </a:solidFill>
                <a:latin typeface="Consolas"/>
              </a:rPr>
              <a:t>supabase</a:t>
            </a:r>
            <a:r>
              <a:rPr sz="910" b="0" dirty="0">
                <a:solidFill>
                  <a:srgbClr val="E6EFF7"/>
                </a:solidFill>
                <a:latin typeface="Consolas"/>
              </a:rPr>
              <a:t> </a:t>
            </a:r>
            <a:r>
              <a:rPr sz="910" b="0" dirty="0" err="1">
                <a:solidFill>
                  <a:srgbClr val="E6EFF7"/>
                </a:solidFill>
                <a:latin typeface="Consolas"/>
              </a:rPr>
              <a:t>init</a:t>
            </a:r>
            <a:endParaRPr sz="910" b="0" dirty="0">
              <a:solidFill>
                <a:srgbClr val="E6EFF7"/>
              </a:solidFill>
              <a:latin typeface="Consolas"/>
            </a:endParaRP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dirty="0" err="1">
                <a:solidFill>
                  <a:srgbClr val="E6EFF7"/>
                </a:solidFill>
                <a:latin typeface="Consolas"/>
              </a:rPr>
              <a:t>supabase</a:t>
            </a:r>
            <a:r>
              <a:rPr sz="910" b="0" dirty="0">
                <a:solidFill>
                  <a:srgbClr val="E6EFF7"/>
                </a:solidFill>
                <a:latin typeface="Consolas"/>
              </a:rPr>
              <a:t> functions new ingest-measurement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endParaRPr sz="910" b="0" dirty="0">
              <a:solidFill>
                <a:srgbClr val="E6EFF7"/>
              </a:solidFill>
              <a:latin typeface="Consolas"/>
            </a:endParaRP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dirty="0">
                <a:solidFill>
                  <a:srgbClr val="E6EFF7"/>
                </a:solidFill>
                <a:latin typeface="Consolas"/>
              </a:rPr>
              <a:t># Use JavaScript, not TypeScript: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dirty="0">
                <a:solidFill>
                  <a:srgbClr val="E6EFF7"/>
                </a:solidFill>
                <a:latin typeface="Consolas"/>
              </a:rPr>
              <a:t># </a:t>
            </a:r>
            <a:r>
              <a:rPr sz="910" b="0" dirty="0" err="1">
                <a:solidFill>
                  <a:srgbClr val="E6EFF7"/>
                </a:solidFill>
                <a:latin typeface="Consolas"/>
              </a:rPr>
              <a:t>supabase</a:t>
            </a:r>
            <a:r>
              <a:rPr sz="910" b="0" dirty="0">
                <a:solidFill>
                  <a:srgbClr val="E6EFF7"/>
                </a:solidFill>
                <a:latin typeface="Consolas"/>
              </a:rPr>
              <a:t>/functions/ingest-measurement/</a:t>
            </a:r>
            <a:r>
              <a:rPr sz="910" b="0" dirty="0" err="1">
                <a:solidFill>
                  <a:srgbClr val="E6EFF7"/>
                </a:solidFill>
                <a:latin typeface="Consolas"/>
              </a:rPr>
              <a:t>index.js</a:t>
            </a:r>
            <a:endParaRPr sz="910" b="0" dirty="0">
              <a:solidFill>
                <a:srgbClr val="E6EFF7"/>
              </a:solidFill>
              <a:latin typeface="Consolas"/>
            </a:endParaRP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endParaRPr sz="910" b="0" dirty="0">
              <a:solidFill>
                <a:srgbClr val="E6EFF7"/>
              </a:solidFill>
              <a:latin typeface="Consolas"/>
            </a:endParaRP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dirty="0">
                <a:solidFill>
                  <a:srgbClr val="E6EFF7"/>
                </a:solidFill>
                <a:latin typeface="Consolas"/>
              </a:rPr>
              <a:t># </a:t>
            </a:r>
            <a:r>
              <a:rPr sz="910" b="0" dirty="0" err="1">
                <a:solidFill>
                  <a:srgbClr val="E6EFF7"/>
                </a:solidFill>
                <a:latin typeface="Consolas"/>
              </a:rPr>
              <a:t>supabase</a:t>
            </a:r>
            <a:r>
              <a:rPr sz="910" b="0" dirty="0">
                <a:solidFill>
                  <a:srgbClr val="E6EFF7"/>
                </a:solidFill>
                <a:latin typeface="Consolas"/>
              </a:rPr>
              <a:t>/</a:t>
            </a:r>
            <a:r>
              <a:rPr sz="910" b="0" dirty="0" err="1">
                <a:solidFill>
                  <a:srgbClr val="E6EFF7"/>
                </a:solidFill>
                <a:latin typeface="Consolas"/>
              </a:rPr>
              <a:t>config.toml</a:t>
            </a:r>
            <a:endParaRPr sz="910" b="0" dirty="0">
              <a:solidFill>
                <a:srgbClr val="E6EFF7"/>
              </a:solidFill>
              <a:latin typeface="Consolas"/>
            </a:endParaRP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dirty="0">
                <a:solidFill>
                  <a:srgbClr val="E6EFF7"/>
                </a:solidFill>
                <a:latin typeface="Consolas"/>
              </a:rPr>
              <a:t>[</a:t>
            </a:r>
            <a:r>
              <a:rPr sz="910" b="0" dirty="0" err="1">
                <a:solidFill>
                  <a:srgbClr val="E6EFF7"/>
                </a:solidFill>
                <a:latin typeface="Consolas"/>
              </a:rPr>
              <a:t>functions.ingest</a:t>
            </a:r>
            <a:r>
              <a:rPr sz="910" b="0" dirty="0">
                <a:solidFill>
                  <a:srgbClr val="E6EFF7"/>
                </a:solidFill>
                <a:latin typeface="Consolas"/>
              </a:rPr>
              <a:t>-measurement]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dirty="0" err="1">
                <a:solidFill>
                  <a:srgbClr val="E6EFF7"/>
                </a:solidFill>
                <a:latin typeface="Consolas"/>
              </a:rPr>
              <a:t>verify_jwt</a:t>
            </a:r>
            <a:r>
              <a:rPr sz="910" b="0" dirty="0">
                <a:solidFill>
                  <a:srgbClr val="E6EFF7"/>
                </a:solidFill>
                <a:latin typeface="Consolas"/>
              </a:rPr>
              <a:t> = false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dirty="0" err="1">
                <a:solidFill>
                  <a:srgbClr val="E6EFF7"/>
                </a:solidFill>
                <a:latin typeface="Consolas"/>
              </a:rPr>
              <a:t>entrypoint</a:t>
            </a:r>
            <a:r>
              <a:rPr sz="910" b="0" dirty="0">
                <a:solidFill>
                  <a:srgbClr val="E6EFF7"/>
                </a:solidFill>
                <a:latin typeface="Consolas"/>
              </a:rPr>
              <a:t> = "./functions/ingest-measurement/</a:t>
            </a:r>
            <a:r>
              <a:rPr sz="910" b="0" dirty="0" err="1">
                <a:solidFill>
                  <a:srgbClr val="E6EFF7"/>
                </a:solidFill>
                <a:latin typeface="Consolas"/>
              </a:rPr>
              <a:t>index.js</a:t>
            </a:r>
            <a:r>
              <a:rPr sz="910" b="0" dirty="0">
                <a:solidFill>
                  <a:srgbClr val="E6EFF7"/>
                </a:solidFill>
                <a:latin typeface="Consolas"/>
              </a:rPr>
              <a:t>"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endParaRPr sz="910" b="0" dirty="0">
              <a:solidFill>
                <a:srgbClr val="E6EFF7"/>
              </a:solidFill>
              <a:latin typeface="Consolas"/>
            </a:endParaRP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endParaRPr sz="910" b="0" dirty="0">
              <a:solidFill>
                <a:srgbClr val="E6EFF7"/>
              </a:solidFill>
              <a:latin typeface="Consolas"/>
            </a:endParaRP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dirty="0" err="1">
                <a:solidFill>
                  <a:srgbClr val="E6EFF7"/>
                </a:solidFill>
                <a:latin typeface="Consolas"/>
              </a:rPr>
              <a:t>supabase</a:t>
            </a:r>
            <a:r>
              <a:rPr sz="910" b="0" dirty="0">
                <a:solidFill>
                  <a:srgbClr val="E6EFF7"/>
                </a:solidFill>
                <a:latin typeface="Consolas"/>
              </a:rPr>
              <a:t> functions deploy ingest-measurement</a:t>
            </a:r>
            <a:endParaRPr lang="en-US" sz="910" b="0" dirty="0">
              <a:solidFill>
                <a:srgbClr val="E6EFF7"/>
              </a:solidFill>
              <a:latin typeface="Consolas"/>
            </a:endParaRP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endParaRPr lang="en-MK" sz="910" dirty="0">
              <a:solidFill>
                <a:srgbClr val="E6EFF7"/>
              </a:solidFill>
              <a:latin typeface="Consolas"/>
            </a:endParaRP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n-MK" sz="910" b="0" dirty="0">
                <a:solidFill>
                  <a:srgbClr val="E6EFF7"/>
                </a:solidFill>
                <a:latin typeface="Consolas"/>
              </a:rPr>
              <a:t>#this is all done trough the interface, the function is coppied from the main github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n-MK" sz="910" dirty="0">
                <a:solidFill>
                  <a:srgbClr val="E6EFF7"/>
                </a:solidFill>
                <a:latin typeface="Consolas"/>
              </a:rPr>
              <a:t>#repository and pasted into supabase dashboard</a:t>
            </a:r>
            <a:endParaRPr sz="910" b="0" dirty="0">
              <a:solidFill>
                <a:srgbClr val="E6EFF7"/>
              </a:solidFill>
              <a:latin typeface="Consola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12280" y="18470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RESULTING ENDPOINT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12280" y="2148840"/>
            <a:ext cx="4343400" cy="1874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POST</a:t>
            </a:r>
            <a:endParaRPr lang="en-US" sz="1270" dirty="0"/>
          </a:p>
          <a:p>
            <a:pPr marL="0" indent="0" algn="l">
              <a:buNone/>
            </a:pPr>
            <a:r>
              <a:rPr lang="en-US" sz="127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https://&lt;project-ref&gt;.supabase.co/functions/v1/ingest-measurement</a:t>
            </a:r>
            <a:endParaRPr lang="en-US" sz="1270" dirty="0"/>
          </a:p>
          <a:p>
            <a:pPr marL="0" indent="0" algn="l">
              <a:buNone/>
            </a:pPr>
            <a:endParaRPr lang="en-US" sz="1270" dirty="0"/>
          </a:p>
          <a:p>
            <a:pPr marL="0" indent="0" algn="l">
              <a:buNone/>
            </a:pPr>
            <a:r>
              <a:rPr lang="en-US" sz="127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Headers</a:t>
            </a:r>
            <a:endParaRPr lang="en-US" sz="1270" dirty="0"/>
          </a:p>
          <a:p>
            <a:pPr marL="0" indent="0" algn="l">
              <a:buNone/>
            </a:pPr>
            <a:r>
              <a:rPr lang="en-US" sz="127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Content-Type: application/json</a:t>
            </a:r>
            <a:endParaRPr lang="en-US" sz="1270" dirty="0"/>
          </a:p>
          <a:p>
            <a:pPr marL="0" indent="0" algn="l">
              <a:buNone/>
            </a:pPr>
            <a:r>
              <a:rPr lang="en-US" sz="127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X-Station-Token: &lt;group-secret-token&gt;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6812280" y="4343400"/>
            <a:ext cx="4343400" cy="960120"/>
          </a:xfrm>
          <a:prstGeom prst="roundRect">
            <a:avLst/>
          </a:prstGeom>
          <a:solidFill>
            <a:srgbClr val="FFFBEB"/>
          </a:solidFill>
          <a:ln>
            <a:solidFill>
              <a:srgbClr val="FCD34D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0F172A"/>
                </a:solidFill>
                <a:latin typeface="Aptos"/>
              </a:rPr>
              <a:t>verify_jwt=false lets sensor devices call the endpoint without a user login. Keep it safe by validating X-Station-Token inside the JavaScript function.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0A676"/>
                </a:solidFill>
                <a:latin typeface="Aptos Display"/>
              </a:rPr>
              <a:t>EDGE FUNCTION: JAVASCRIPT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F172A"/>
                </a:solidFill>
                <a:latin typeface="Aptos Display"/>
              </a:rPr>
              <a:t>Actual index.js code for the ingestion endpoint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Vercel IoT data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4748B"/>
                </a:solidFill>
                <a:latin typeface="Aptos"/>
              </a:rPr>
              <a:t>Sources: Supabase Edge Functions + JavaScript entrypoint docs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334155"/>
                </a:solidFill>
                <a:latin typeface="Aptos"/>
              </a:rPr>
              <a:t>This is the guardrail between student devices and the central database: validate the request first, then insert one measurement row.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85800" y="1847088"/>
            <a:ext cx="5897880" cy="443484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txBody>
          <a:bodyPr wrap="none" lIns="127000" tIns="76200" rIns="76200" bIns="76200" rtlCol="0" anchor="t"/>
          <a:lstStyle/>
          <a:p>
            <a:pPr marL="0" indent="0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" b="0">
                <a:solidFill>
                  <a:srgbClr val="E6EFF7"/>
                </a:solidFill>
                <a:latin typeface="Consolas"/>
              </a:rPr>
              <a:t>// supabase/functions/ingest-measurement/index.js</a:t>
            </a:r>
            <a:endParaRPr lang="en-US" sz="1090" dirty="0"/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import { createClient } from "https://esm.sh/@supabase/supabase-js@2";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endParaRPr sz="720" b="0">
              <a:solidFill>
                <a:srgbClr val="E6EFF7"/>
              </a:solidFill>
              <a:latin typeface="Consolas"/>
            </a:endParaRP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const db = createClient(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Deno.env.get("SUPABASE_URL"),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Deno.env.get("SERVICE_ROLE_KEY")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);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const json = (body, status = 200) =&gt;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new Response(JSON.stringify(body), {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  status, headers: { "Content-Type": "application/json" }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});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endParaRPr sz="720" b="0">
              <a:solidFill>
                <a:srgbClr val="E6EFF7"/>
              </a:solidFill>
              <a:latin typeface="Consolas"/>
            </a:endParaRP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Deno.serve(async (req) =&gt; {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if (req.method !== "POST") return json({ error: "POST only" }, 405);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const token = req.headers.get("X-Station-Token");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const p = await req.json().catch(() =&gt; null);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if (!token || !p?.station_id) return json({ error: "Bad request" }, 400);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endParaRPr sz="720" b="0">
              <a:solidFill>
                <a:srgbClr val="E6EFF7"/>
              </a:solidFill>
              <a:latin typeface="Consolas"/>
            </a:endParaRP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const { data: auth } = await db.from("station_tokens")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  .select("active").eq("station_id", p.station_id)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  .eq("token", token).single();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if (!auth?.active) return json({ error: "Invalid token" }, 401);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endParaRPr sz="720" b="0">
              <a:solidFill>
                <a:srgbClr val="E6EFF7"/>
              </a:solidFill>
              <a:latin typeface="Consolas"/>
            </a:endParaRP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const t = new Date(p.device_time);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if (Number.isNaN(t.getTime())) return json({ error: "Invalid time" }, 400);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endParaRPr sz="720" b="0">
              <a:solidFill>
                <a:srgbClr val="E6EFF7"/>
              </a:solidFill>
              <a:latin typeface="Consolas"/>
            </a:endParaRP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const row = {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  station_id: p.station_id, device_time: t.toISOString(),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  noise_dba_raw: p.noise_dba_raw, noise_dba: p.noise_dba_raw,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  pm25_raw: p.pm25_raw, pm25_ugm3: p.pm25_raw,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  pm10_raw: p.pm10_raw, pm10_ugm3: p.pm10_raw,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  temperature_c: p.temperature_c, battery_v: p.battery_v,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  calibration_version: p.calibration_version ?? null, payload: p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};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const { error } = await db.from("measurements").insert(row);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  return error ? json({ error: error.message }, 400) : json({ ok: true });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E6EFF7"/>
                </a:solidFill>
                <a:latin typeface="Consolas"/>
              </a:rPr>
              <a:t>});</a:t>
            </a:r>
          </a:p>
        </p:txBody>
      </p:sp>
      <p:sp>
        <p:nvSpPr>
          <p:cNvPr id="10" name="Text 8"/>
          <p:cNvSpPr/>
          <p:nvPr/>
        </p:nvSpPr>
        <p:spPr>
          <a:xfrm>
            <a:off x="6903720" y="1901952"/>
            <a:ext cx="438912" cy="38404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70648" y="189280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F172A"/>
                </a:solidFill>
                <a:latin typeface="Aptos"/>
              </a:rPr>
              <a:t>index.js file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470648" y="2212848"/>
            <a:ext cx="37307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334155"/>
                </a:solidFill>
                <a:latin typeface="Aptos"/>
              </a:rPr>
              <a:t>Pure JavaScript entrypoint configured in supabase/config.toml.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903720" y="2615184"/>
            <a:ext cx="438912" cy="38404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70648" y="260604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F172A"/>
                </a:solidFill>
                <a:latin typeface="Aptos"/>
              </a:rPr>
              <a:t>Create DB client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70648" y="2926080"/>
            <a:ext cx="37307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334155"/>
                </a:solidFill>
                <a:latin typeface="Aptos"/>
              </a:rPr>
              <a:t>Use SUPABASE_URL and SERVICE_ROLE_KEY from function secrets.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6903720" y="3328416"/>
            <a:ext cx="438912" cy="38404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70648" y="3319272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F172A"/>
                </a:solidFill>
                <a:latin typeface="Aptos"/>
              </a:rPr>
              <a:t>Token check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470648" y="3639312"/>
            <a:ext cx="37307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334155"/>
                </a:solidFill>
                <a:latin typeface="Aptos"/>
              </a:rPr>
              <a:t>Match station_id with X-Station-Token before inserting.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903720" y="4041648"/>
            <a:ext cx="438912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70648" y="403250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F172A"/>
                </a:solidFill>
                <a:latin typeface="Aptos"/>
              </a:rPr>
              <a:t>Build row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470648" y="4352544"/>
            <a:ext cx="37307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334155"/>
                </a:solidFill>
                <a:latin typeface="Aptos"/>
              </a:rPr>
              <a:t>Inline object copies JSON fields into table columns.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6903720" y="4754880"/>
            <a:ext cx="438912" cy="38404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70648" y="4745736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F172A"/>
                </a:solidFill>
                <a:latin typeface="Aptos"/>
              </a:rPr>
              <a:t>Return JSON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470648" y="5065776"/>
            <a:ext cx="37307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334155"/>
                </a:solidFill>
                <a:latin typeface="Aptos"/>
              </a:rPr>
              <a:t>Device receives clear success/error response.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6903720" y="5669280"/>
            <a:ext cx="4251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0F172A"/>
                </a:solidFill>
                <a:latin typeface="Aptos"/>
              </a:rPr>
              <a:t>Students never receive database credentials. Each device only stores its assigned station_id and station token.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EVERY STATION MUST SEND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contract: payload and test request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Vercel IoT data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platform design + assignment requirements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students need one contract: payload shape, endpoint URL, and token header.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4892040" cy="2816352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"station_id": "G03",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"device_time": "2026-05-03T12:34:00+02:00",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"noise_dba_raw": 63.1,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"pm25_raw": 184,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"pm10_raw": 331,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"temperature_c": 22.6,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"battery_v": 3.91,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"calibration_version": "G03-v1"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85800" y="4892040"/>
            <a:ext cx="4892040" cy="118872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POST $INGEST_URL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Header: Content-Type: application/json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Header: X-Station-Token: $TOKEN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Body: sample-measurement.json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172200" y="1874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FOR STUDENTS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72200" y="2148840"/>
            <a:ext cx="4663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assigned station_id exactly.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one payload per minute.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ISO timestamp with timezone.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send database credentials from the device.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endpoint errors during testing.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raw values because calibration can be reviewed later.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HOSTING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Vercel setup: deploy the dashboard from GitHub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Vercel IoT data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Vercel Git + environment variables docs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Vercel keeps hosting low-friction: connect GitHub, add environment variables, and deploy.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5623560" cy="274320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Vercel project environment variables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NEXT_PUBLIC_SUPABASE_URL=https://&lt;project-ref&gt;.supabase.co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NEXT_PUBLIC_SUPABASE_ANON_KEY=&lt;anon-key&gt;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Browser query example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const { data } = await supabase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.from('latest_measurements')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.select('*')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.order('station_id');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766560" y="18470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PAGES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766560" y="2148840"/>
            <a:ext cx="434340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 page</a:t>
            </a:r>
            <a:endParaRPr lang="en-US" sz="1540" dirty="0"/>
          </a:p>
          <a:p>
            <a:pPr marL="0" indent="0" algn="l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value cards for all stations</a:t>
            </a:r>
            <a:endParaRPr lang="en-US" sz="1540" dirty="0"/>
          </a:p>
          <a:p>
            <a:pPr marL="0" indent="0" algn="l">
              <a:buNone/>
            </a:pPr>
            <a:endParaRPr lang="en-US" sz="1540" dirty="0"/>
          </a:p>
          <a:p>
            <a:pPr marL="0" indent="0" algn="l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 page</a:t>
            </a:r>
            <a:endParaRPr lang="en-US" sz="1540" dirty="0"/>
          </a:p>
          <a:p>
            <a:pPr marL="0" indent="0" algn="l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1-minute chart and recent history</a:t>
            </a:r>
            <a:endParaRPr lang="en-US" sz="1540" dirty="0"/>
          </a:p>
          <a:p>
            <a:pPr marL="0" indent="0" algn="l">
              <a:buNone/>
            </a:pPr>
            <a:endParaRPr lang="en-US" sz="1540" dirty="0"/>
          </a:p>
          <a:p>
            <a:pPr marL="0" indent="0" algn="l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page</a:t>
            </a:r>
            <a:endParaRPr lang="en-US" sz="1540" dirty="0"/>
          </a:p>
          <a:p>
            <a:pPr marL="0" indent="0" algn="l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PM2.5, PM10, noise, temperature by location</a:t>
            </a:r>
            <a:endParaRPr lang="en-US" sz="1540" dirty="0"/>
          </a:p>
          <a:p>
            <a:pPr marL="0" indent="0" algn="l">
              <a:buNone/>
            </a:pPr>
            <a:endParaRPr lang="en-US" sz="1540" dirty="0"/>
          </a:p>
          <a:p>
            <a:pPr marL="0" indent="0" algn="l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page</a:t>
            </a:r>
            <a:endParaRPr lang="en-US" sz="1540" dirty="0"/>
          </a:p>
          <a:p>
            <a:pPr marL="0" indent="0" algn="l">
              <a:buNone/>
            </a:pPr>
            <a:r>
              <a:rPr lang="en-US" sz="15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update time, missing data, battery voltage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713232" y="5047488"/>
            <a:ext cx="5596128" cy="530352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add SUPABASE_SERVICE_ROLE_KEY to Vercel browser environment variables.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713232" y="5687568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loop: push to GitHub -&gt; Vercel preview -&gt; merge to main -&gt; production deployment.</a:t>
            </a:r>
            <a:endParaRPr lang="en-US" sz="15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  <a:latin typeface="Aptos"/>
              </a:rPr>
              <a:t>PROJECT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Dashboard code: GitHub repo and QR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60704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50" b="0">
                <a:solidFill>
                  <a:srgbClr val="334155"/>
                </a:solidFill>
                <a:latin typeface="Aptos"/>
              </a:rPr>
              <a:t>Use the public repository as the source project when importing the dashboard into Vercel.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Supabase + Vercel IoT data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Sources: repository URL provided by teacher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65376"/>
            <a:ext cx="55321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84831"/>
            <a:ext cx="3200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  <a:latin typeface="Aptos"/>
              </a:rPr>
              <a:t>REPOSITORY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5361468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 dirty="0">
                <a:solidFill>
                  <a:srgbClr val="0F172A"/>
                </a:solidFill>
                <a:latin typeface="Aptos"/>
              </a:rPr>
              <a:t>https://</a:t>
            </a:r>
            <a:r>
              <a:rPr sz="1400" b="1" dirty="0" err="1">
                <a:solidFill>
                  <a:srgbClr val="0F172A"/>
                </a:solidFill>
                <a:latin typeface="Aptos"/>
              </a:rPr>
              <a:t>github.com</a:t>
            </a:r>
            <a:r>
              <a:rPr sz="1400" b="1" dirty="0">
                <a:solidFill>
                  <a:srgbClr val="0F172A"/>
                </a:solidFill>
                <a:latin typeface="Aptos"/>
              </a:rPr>
              <a:t>/</a:t>
            </a:r>
            <a:r>
              <a:rPr sz="1400" b="1" dirty="0" err="1">
                <a:solidFill>
                  <a:srgbClr val="0F172A"/>
                </a:solidFill>
                <a:latin typeface="Aptos"/>
              </a:rPr>
              <a:t>klimentLambevski</a:t>
            </a:r>
            <a:r>
              <a:rPr sz="1400" b="1" dirty="0">
                <a:solidFill>
                  <a:srgbClr val="0F172A"/>
                </a:solidFill>
                <a:latin typeface="Aptos"/>
              </a:rPr>
              <a:t>/measurement-dashboard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4422044" cy="76174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50" b="0" dirty="0">
                <a:solidFill>
                  <a:srgbClr val="334155"/>
                </a:solidFill>
                <a:latin typeface="Aptos"/>
              </a:rPr>
              <a:t>Use this repository for the frontend dashboard. </a:t>
            </a:r>
            <a:endParaRPr lang="en-US" sz="1450" b="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sz="1450" b="0" dirty="0">
                <a:solidFill>
                  <a:srgbClr val="334155"/>
                </a:solidFill>
                <a:latin typeface="Aptos"/>
              </a:rPr>
              <a:t>Sensor firmware and </a:t>
            </a:r>
            <a:r>
              <a:rPr sz="1450" b="0" dirty="0" err="1">
                <a:solidFill>
                  <a:srgbClr val="334155"/>
                </a:solidFill>
                <a:latin typeface="Aptos"/>
              </a:rPr>
              <a:t>Supabase</a:t>
            </a:r>
            <a:r>
              <a:rPr sz="1450" b="0" dirty="0">
                <a:solidFill>
                  <a:srgbClr val="334155"/>
                </a:solidFill>
                <a:latin typeface="Aptos"/>
              </a:rPr>
              <a:t> Edge Functions </a:t>
            </a:r>
            <a:endParaRPr lang="en-US" sz="1450" b="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sz="1450" b="0" dirty="0">
                <a:solidFill>
                  <a:srgbClr val="334155"/>
                </a:solidFill>
                <a:latin typeface="Aptos"/>
              </a:rPr>
              <a:t>remain separate from the </a:t>
            </a:r>
            <a:r>
              <a:rPr sz="1450" b="0" dirty="0" err="1">
                <a:solidFill>
                  <a:srgbClr val="334155"/>
                </a:solidFill>
                <a:latin typeface="Aptos"/>
              </a:rPr>
              <a:t>Vercel</a:t>
            </a:r>
            <a:r>
              <a:rPr sz="1450" b="0" dirty="0">
                <a:solidFill>
                  <a:srgbClr val="334155"/>
                </a:solidFill>
                <a:latin typeface="Aptos"/>
              </a:rPr>
              <a:t> frontend deployment.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3307509" cy="5078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0" dirty="0" err="1">
                <a:solidFill>
                  <a:srgbClr val="334155"/>
                </a:solidFill>
                <a:latin typeface="Aptos"/>
              </a:rPr>
              <a:t>Vercel</a:t>
            </a:r>
            <a:r>
              <a:rPr sz="1350" b="0" dirty="0">
                <a:solidFill>
                  <a:srgbClr val="334155"/>
                </a:solidFill>
                <a:latin typeface="Aptos"/>
              </a:rPr>
              <a:t> will watch the GitHub repository and</a:t>
            </a:r>
            <a:endParaRPr lang="en-US" sz="1350" b="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sz="1350" b="0" dirty="0">
                <a:solidFill>
                  <a:srgbClr val="334155"/>
                </a:solidFill>
                <a:latin typeface="Aptos"/>
              </a:rPr>
              <a:t> redeploy when code is updated.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783080"/>
            <a:ext cx="3749039" cy="41605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42048" y="2057400"/>
            <a:ext cx="3108960" cy="2377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69" b="1">
                <a:solidFill>
                  <a:srgbClr val="10B981"/>
                </a:solidFill>
                <a:latin typeface="Aptos"/>
              </a:rPr>
              <a:t>SCAN TO OPEN REPO</a:t>
            </a:r>
          </a:p>
        </p:txBody>
      </p:sp>
      <p:pic>
        <p:nvPicPr>
          <p:cNvPr id="16" name="Picture 15" descr="measurement_dashboard_repo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404872"/>
            <a:ext cx="2697480" cy="2697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42048" y="5257800"/>
            <a:ext cx="312724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50" b="1">
                <a:solidFill>
                  <a:srgbClr val="0F172A"/>
                </a:solidFill>
                <a:latin typeface="Aptos"/>
              </a:rPr>
              <a:t>GitHub: measurement-dashboard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  <a:latin typeface="Aptos"/>
              </a:rPr>
              <a:t>VERCEL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Import the GitHub repository and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60704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50" b="0">
                <a:solidFill>
                  <a:srgbClr val="334155"/>
                </a:solidFill>
                <a:latin typeface="Aptos"/>
              </a:rPr>
              <a:t>The deployment path is a UI workflow: connect GitHub, import the repo, configure variables, then deploy.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Supabase + Vercel IoT data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Sources: Vercel import + Git deployment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938528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929384"/>
            <a:ext cx="5120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Open Vercel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249424"/>
            <a:ext cx="512064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80" b="0">
                <a:solidFill>
                  <a:srgbClr val="334155"/>
                </a:solidFill>
                <a:latin typeface="Aptos"/>
              </a:rPr>
              <a:t>Create a new Project from the dashboard.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670048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2660904"/>
            <a:ext cx="5120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Import Git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2980944"/>
            <a:ext cx="512064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80" b="0">
                <a:solidFill>
                  <a:srgbClr val="334155"/>
                </a:solidFill>
                <a:latin typeface="Aptos"/>
              </a:rPr>
              <a:t>Select GitHub and choose measurement-dashboard.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401568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3392424"/>
            <a:ext cx="5120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Check framework 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712464"/>
            <a:ext cx="512064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80" b="0">
                <a:solidFill>
                  <a:srgbClr val="334155"/>
                </a:solidFill>
                <a:latin typeface="Aptos"/>
              </a:rPr>
              <a:t>Vercel should detect Next.js automatically.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133087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4123944"/>
            <a:ext cx="5120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Add environment variables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443983"/>
            <a:ext cx="512064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80" b="0">
                <a:solidFill>
                  <a:srgbClr val="334155"/>
                </a:solidFill>
                <a:latin typeface="Aptos"/>
              </a:rPr>
              <a:t>Set the Supabase URL and anon key before deploy.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864608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7" y="4855464"/>
            <a:ext cx="5120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Press 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7" y="5175504"/>
            <a:ext cx="512064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80" b="0">
                <a:solidFill>
                  <a:srgbClr val="334155"/>
                </a:solidFill>
                <a:latin typeface="Aptos"/>
              </a:rPr>
              <a:t>Vercel builds the app and creates a public URL.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847088"/>
            <a:ext cx="3200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  <a:latin typeface="Aptos"/>
              </a:rPr>
              <a:t>WHAT VERCEL GIVES 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148840"/>
            <a:ext cx="44805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2441448"/>
            <a:ext cx="39319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Automatic deployments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907792"/>
            <a:ext cx="2604367" cy="5078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0" dirty="0">
                <a:solidFill>
                  <a:srgbClr val="334155"/>
                </a:solidFill>
                <a:latin typeface="Aptos"/>
              </a:rPr>
              <a:t>Every push to the connected </a:t>
            </a:r>
            <a:endParaRPr lang="en-US" sz="1350" b="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sz="1350" b="0" dirty="0">
                <a:solidFill>
                  <a:srgbClr val="334155"/>
                </a:solidFill>
                <a:latin typeface="Aptos"/>
              </a:rPr>
              <a:t>repository can trigger a new build.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703320"/>
            <a:ext cx="39319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Preview and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078224"/>
            <a:ext cx="2695610" cy="5078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0" dirty="0">
                <a:solidFill>
                  <a:srgbClr val="334155"/>
                </a:solidFill>
                <a:latin typeface="Aptos"/>
              </a:rPr>
              <a:t>Branches and pull requests can be</a:t>
            </a:r>
            <a:endParaRPr lang="en-US" sz="1350" b="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sz="1350" b="0" dirty="0">
                <a:solidFill>
                  <a:srgbClr val="334155"/>
                </a:solidFill>
                <a:latin typeface="Aptos"/>
              </a:rPr>
              <a:t> previewed before merging to main.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956048"/>
            <a:ext cx="3977639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No server management for students.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  <a:latin typeface="Aptos"/>
              </a:rPr>
              <a:t>ENVIRONMENT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Set the Supabase keys inside Vercel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60704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50" b="0">
                <a:solidFill>
                  <a:srgbClr val="334155"/>
                </a:solidFill>
                <a:latin typeface="Aptos"/>
              </a:rPr>
              <a:t>The dashboard will fail to connect until Vercel knows the Supabase project URL and public anon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Supabase + Vercel IoT data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Sources: Vercel environment variables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38528"/>
            <a:ext cx="6217920" cy="1554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5448" tIns="155448" rIns="155448" bIns="155448" rtlCol="0" anchor="t"/>
          <a:lstStyle/>
          <a:p>
            <a:pPr algn="l"/>
            <a:r>
              <a:rPr sz="1270" b="0" dirty="0">
                <a:solidFill>
                  <a:srgbClr val="F1F5F9"/>
                </a:solidFill>
                <a:latin typeface="Liberation Mono"/>
              </a:rPr>
              <a:t>NEXT_PUBLIC_SUPABASE_URL=https://&lt;project-ref&gt;.</a:t>
            </a:r>
            <a:r>
              <a:rPr sz="1270" b="0" dirty="0" err="1">
                <a:solidFill>
                  <a:srgbClr val="F1F5F9"/>
                </a:solidFill>
                <a:latin typeface="Liberation Mono"/>
              </a:rPr>
              <a:t>supabase.co</a:t>
            </a:r>
            <a:endParaRPr sz="1270" b="0" dirty="0">
              <a:solidFill>
                <a:srgbClr val="F1F5F9"/>
              </a:solidFill>
              <a:latin typeface="Liberation Mono"/>
            </a:endParaRPr>
          </a:p>
          <a:p>
            <a:pPr algn="l"/>
            <a:endParaRPr sz="1270" b="0" dirty="0">
              <a:solidFill>
                <a:srgbClr val="F1F5F9"/>
              </a:solidFill>
              <a:latin typeface="Liberation Mono"/>
            </a:endParaRPr>
          </a:p>
          <a:p>
            <a:pPr algn="l"/>
            <a:r>
              <a:rPr lang="en-GB" sz="1270" b="0" dirty="0">
                <a:solidFill>
                  <a:srgbClr val="F1F5F9"/>
                </a:solidFill>
                <a:latin typeface="Liberation Mono"/>
              </a:rPr>
              <a:t>NEXT_PUBLIC_SUPABASE_PUBLISHABLE_KEY</a:t>
            </a:r>
            <a:r>
              <a:rPr sz="1270" b="0" dirty="0">
                <a:solidFill>
                  <a:srgbClr val="F1F5F9"/>
                </a:solidFill>
                <a:latin typeface="Liberation Mono"/>
              </a:rPr>
              <a:t>=&lt;anon-public-key&gt;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67328"/>
            <a:ext cx="6217920" cy="1417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3968496"/>
            <a:ext cx="5814092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 dirty="0">
                <a:solidFill>
                  <a:srgbClr val="0F172A"/>
                </a:solidFill>
                <a:latin typeface="Aptos"/>
              </a:rPr>
              <a:t>Do not add SUPABASE_SERVICE_ROLE_KEY, </a:t>
            </a:r>
            <a:endParaRPr lang="en-US" sz="1500" b="1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1" dirty="0" err="1">
                <a:solidFill>
                  <a:srgbClr val="0F172A"/>
                </a:solidFill>
                <a:latin typeface="Aptos"/>
              </a:rPr>
              <a:t>service_role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, or any secret key to browser-visible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Vercel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 variables.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736592"/>
            <a:ext cx="5623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80" b="0">
                <a:solidFill>
                  <a:srgbClr val="334155"/>
                </a:solidFill>
                <a:latin typeface="Aptos"/>
              </a:rPr>
              <a:t>The frontend only needs the public client key.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47088"/>
            <a:ext cx="3200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  <a:latin typeface="Aptos"/>
              </a:rPr>
              <a:t>WHERE TO SET THEM IN VERCEL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148840"/>
            <a:ext cx="39319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2468880"/>
            <a:ext cx="35204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0F172A"/>
                </a:solidFill>
                <a:latin typeface="Aptos"/>
              </a:rPr>
              <a:t>During import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907792"/>
            <a:ext cx="2953437" cy="48628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80" b="0" dirty="0">
                <a:solidFill>
                  <a:srgbClr val="334155"/>
                </a:solidFill>
                <a:latin typeface="Aptos"/>
              </a:rPr>
              <a:t>Open the Environment Variables section </a:t>
            </a:r>
            <a:endParaRPr lang="en-US" sz="1280" b="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sz="1280" b="0" dirty="0">
                <a:solidFill>
                  <a:srgbClr val="334155"/>
                </a:solidFill>
                <a:latin typeface="Aptos"/>
              </a:rPr>
              <a:t>before pressing Deploy.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703320"/>
            <a:ext cx="35204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50" b="1">
                <a:solidFill>
                  <a:srgbClr val="0F172A"/>
                </a:solidFill>
                <a:latin typeface="Aptos"/>
              </a:rPr>
              <a:t>After import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050791"/>
            <a:ext cx="3251916" cy="48628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80" b="0" dirty="0">
                <a:solidFill>
                  <a:srgbClr val="334155"/>
                </a:solidFill>
                <a:latin typeface="Aptos"/>
              </a:rPr>
              <a:t>Project -&gt; Settings -&gt; Environment Variables. </a:t>
            </a:r>
            <a:endParaRPr lang="en-US" sz="1280" b="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sz="1280" b="0" dirty="0">
                <a:solidFill>
                  <a:srgbClr val="334155"/>
                </a:solidFill>
                <a:latin typeface="Aptos"/>
              </a:rPr>
              <a:t>Add both keys for Production and Preview.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5010912"/>
            <a:ext cx="3474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Redeploy after changes.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  <a:latin typeface="Aptos"/>
              </a:rPr>
              <a:t>SUPABASE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Where the two Vercel variables come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60704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50" b="0">
                <a:solidFill>
                  <a:srgbClr val="334155"/>
                </a:solidFill>
                <a:latin typeface="Aptos"/>
              </a:rPr>
              <a:t>Copy the browser-safe values from the Supabase project. The frontend never receives the service-role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Supabase + Vercel IoT data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Sources: Supabase API keys + project API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3200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  <a:latin typeface="Aptos"/>
              </a:rPr>
              <a:t>SUPABASE DASHBOARD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53492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468880"/>
            <a:ext cx="4846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1. Open your Supabase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4846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2. Open Connect or Settings -&gt; API 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83280"/>
            <a:ext cx="4846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3. Copy Project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40480"/>
            <a:ext cx="1773755" cy="33855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 dirty="0">
                <a:solidFill>
                  <a:srgbClr val="0F172A"/>
                </a:solidFill>
                <a:latin typeface="Aptos"/>
              </a:rPr>
              <a:t>4. Copy </a:t>
            </a:r>
            <a:r>
              <a:rPr lang="en-US" sz="1600" b="1" dirty="0">
                <a:solidFill>
                  <a:srgbClr val="0F172A"/>
                </a:solidFill>
                <a:latin typeface="Aptos"/>
              </a:rPr>
              <a:t>Pu</a:t>
            </a:r>
            <a:r>
              <a:rPr sz="1600" b="1" dirty="0">
                <a:solidFill>
                  <a:srgbClr val="0F172A"/>
                </a:solidFill>
                <a:latin typeface="Aptos"/>
              </a:rPr>
              <a:t>blic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17720"/>
            <a:ext cx="4704173" cy="4678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20" b="0" dirty="0">
                <a:solidFill>
                  <a:srgbClr val="334155"/>
                </a:solidFill>
                <a:latin typeface="Aptos"/>
              </a:rPr>
              <a:t>If </a:t>
            </a:r>
            <a:r>
              <a:rPr sz="1220" b="0" dirty="0" err="1">
                <a:solidFill>
                  <a:srgbClr val="334155"/>
                </a:solidFill>
                <a:latin typeface="Aptos"/>
              </a:rPr>
              <a:t>Supabase</a:t>
            </a:r>
            <a:r>
              <a:rPr sz="1220" b="0" dirty="0">
                <a:solidFill>
                  <a:srgbClr val="334155"/>
                </a:solidFill>
                <a:latin typeface="Aptos"/>
              </a:rPr>
              <a:t> shows newer publishable keys,</a:t>
            </a:r>
            <a:endParaRPr lang="en-US" sz="1220" b="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sz="1220" b="0" dirty="0">
                <a:solidFill>
                  <a:srgbClr val="334155"/>
                </a:solidFill>
                <a:latin typeface="Aptos"/>
              </a:rPr>
              <a:t> keep the repo variable name unchanged unless the code is updated.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847088"/>
            <a:ext cx="3200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  <a:latin typeface="Aptos"/>
              </a:rPr>
              <a:t>VALUE 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148840"/>
            <a:ext cx="4617720" cy="3566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2523744"/>
            <a:ext cx="416052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Project URL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880360"/>
            <a:ext cx="416052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Liberation Mono"/>
              </a:rPr>
              <a:t>-&gt; NEXT_PUBLIC_SUPABASE_URL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520440"/>
            <a:ext cx="1011367" cy="3308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lang="en-US" sz="1550" b="1" dirty="0">
                <a:solidFill>
                  <a:srgbClr val="0F172A"/>
                </a:solidFill>
                <a:latin typeface="Aptos"/>
              </a:rPr>
              <a:t>P</a:t>
            </a:r>
            <a:r>
              <a:rPr sz="1550" b="1" dirty="0">
                <a:solidFill>
                  <a:srgbClr val="0F172A"/>
                </a:solidFill>
                <a:latin typeface="Aptos"/>
              </a:rPr>
              <a:t>ublic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877056"/>
            <a:ext cx="3247043" cy="30008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lang="en-GB" sz="1350" b="0" dirty="0">
                <a:solidFill>
                  <a:srgbClr val="334155"/>
                </a:solidFill>
                <a:latin typeface="Liberation Mono"/>
              </a:rPr>
              <a:t>NEXT_PUBLIC_SUPABASE_PUBLISHABLE_KEY</a:t>
            </a:r>
            <a:endParaRPr sz="1350" b="0" dirty="0">
              <a:solidFill>
                <a:srgbClr val="334155"/>
              </a:solidFill>
              <a:latin typeface="Liberation Mon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03720" y="4754880"/>
            <a:ext cx="3312125" cy="4985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20" b="1" dirty="0">
                <a:solidFill>
                  <a:srgbClr val="0F172A"/>
                </a:solidFill>
                <a:latin typeface="Aptos"/>
              </a:rPr>
              <a:t>Never copy </a:t>
            </a:r>
            <a:r>
              <a:rPr sz="1320" b="1" dirty="0" err="1">
                <a:solidFill>
                  <a:srgbClr val="0F172A"/>
                </a:solidFill>
                <a:latin typeface="Aptos"/>
              </a:rPr>
              <a:t>service_role</a:t>
            </a:r>
            <a:r>
              <a:rPr sz="1320" b="1" dirty="0">
                <a:solidFill>
                  <a:srgbClr val="0F172A"/>
                </a:solidFill>
                <a:latin typeface="Aptos"/>
              </a:rPr>
              <a:t> or secret key into </a:t>
            </a:r>
            <a:endParaRPr lang="en-US" sz="1320" b="1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320" b="1" dirty="0" err="1">
                <a:solidFill>
                  <a:srgbClr val="0F172A"/>
                </a:solidFill>
                <a:latin typeface="Aptos"/>
              </a:rPr>
              <a:t>Vercel</a:t>
            </a:r>
            <a:r>
              <a:rPr sz="1320" b="1" dirty="0">
                <a:solidFill>
                  <a:srgbClr val="0F172A"/>
                </a:solidFill>
                <a:latin typeface="Aptos"/>
              </a:rPr>
              <a:t> frontend variables.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SEQUENCE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path and student checklist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Vercel IoT data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0" y="651052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project brief + official docs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the lecture by sending fake data, then opening the dashboard. Students should see the whole chain working.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438912" cy="38404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44168" y="1911096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DB schema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44168" y="2231136"/>
            <a:ext cx="43708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SQL tables, index, views, and RLS policies.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777240" y="2633472"/>
            <a:ext cx="438912" cy="38404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44168" y="2624328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groups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344168" y="2944368"/>
            <a:ext cx="43708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station rows and tokens for each group.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777240" y="3346704"/>
            <a:ext cx="438912" cy="38404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44168" y="3337560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endpoint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44168" y="3657600"/>
            <a:ext cx="43708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ingest-measurement and set secrets.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777240" y="4059936"/>
            <a:ext cx="438912" cy="38404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44168" y="4050792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fake payload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344168" y="4370832"/>
            <a:ext cx="43708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curl first before connecting real sensors.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777240" y="4773168"/>
            <a:ext cx="438912" cy="38404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44168" y="4764024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dashboard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344168" y="5084064"/>
            <a:ext cx="43708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latest values and one station chart.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6446520" y="188366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MISTAKES TO WARN ABOUT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46520" y="2157984"/>
            <a:ext cx="4663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station_id or token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timezone in device_time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sends too often or in bursts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RLS enabled but read policy missing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Service-role key accidentally placed in frontend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unique constraint, creating duplicates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Charts query raw table instead of views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5779008"/>
            <a:ext cx="10287000" cy="475488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viable success: one valid payload per minute from each station and one shared dashboard for all groups.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4086</Words>
  <Application>Microsoft Macintosh PowerPoint</Application>
  <PresentationFormat>Widescreen</PresentationFormat>
  <Paragraphs>585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Consolas</vt:lpstr>
      <vt:lpstr>Liberation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 Data to Web Dashboard: Supabase + Vercel</dc:title>
  <dc:subject>Supabase + Vercel data platform for environmental IoT project</dc:subject>
  <dc:creator>OpenAI</dc:creator>
  <cp:lastModifiedBy>Kliment Lambevski</cp:lastModifiedBy>
  <cp:revision>2</cp:revision>
  <dcterms:created xsi:type="dcterms:W3CDTF">2026-05-03T12:23:31Z</dcterms:created>
  <dcterms:modified xsi:type="dcterms:W3CDTF">2026-05-04T09:32:06Z</dcterms:modified>
</cp:coreProperties>
</file>